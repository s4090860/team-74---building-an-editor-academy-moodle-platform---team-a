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6F3E6-FB72-D1F6-2220-64F49B91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D244E-C2EE-E5C8-31FA-D0003AF9E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1CF09-002A-E86A-1DB8-C882C8F3F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429D-04C1-7FF6-223D-02E98C0A2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8A04B-29BB-5741-B0CB-0C73BB6DB3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90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AC1A3-68F3-443C-8798-9E906731141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356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3E96-515B-2237-E1DE-F38AA9AB2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42D49-6504-DDC6-5E28-3A8257829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D8FDB-D0E1-F5DB-D74B-9FDD90896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700D-CA91-3682-65C1-F2B85157E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AC1A3-68F3-443C-8798-9E906731141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428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AC1A3-68F3-443C-8798-9E906731141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68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AC1A3-68F3-443C-8798-9E906731141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74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AC1A3-68F3-443C-8798-9E906731141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824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0785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152C-B0BF-B199-7249-55D2B47E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CAF5C-7378-E4B0-D6E4-13C23EEDC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F0B9F-D21A-1F4B-B731-880F2F5A2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798C9-2AB7-DCF8-F9A4-53299663C3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31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D2CA-D230-B817-6A0D-0C8081D2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EF28D-8DDA-8141-5068-9AF00F53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86679-2026-F22A-A0D0-0157D9571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BF78E-921C-FD9C-9EC5-9E27DD3D6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4A3A2-CE79-322A-D5DE-F0E8833C0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61B25-F4CD-1283-6961-CE4B03C1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FF75-CB29-E743-B8A2-73614D37117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B8B8E-9344-AB87-A516-AFA736C8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DE25C-0421-EB94-1199-0D82DB1E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354D-BD1C-7B41-9857-E3182A3AC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942F-9C4D-68A5-49FC-4DEB221E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87B7-782C-1A26-2303-ED412DBB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ED57F-F99B-4A0F-7FD0-870A0221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FD12-9B55-48A5-9D22-CBFEAEB1617D}" type="datetimeFigureOut">
              <a:rPr lang="en-AU" smtClean="0"/>
              <a:t>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7CD7B-444D-8A9A-244A-002C2AB1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B6B20-D91C-F37A-053C-F740ADE0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115E-EEE8-4163-97B0-2FA69B8BCF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56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2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0588" y="419100"/>
            <a:ext cx="2324100" cy="11620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BA1956-D0CD-4EAA-AD9F-3926262BB3FF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0000"/>
                </a:solidFill>
                <a:latin typeface="Arial"/>
              </a:rPr>
              <a:t>SPRINT 2 PLAYBACK / TEAM 74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F023D-BE69-49B1-9D4B-143754123D41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8763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9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000000"/>
                </a:solidFill>
                <a:latin typeface="Georgia"/>
              </a:rPr>
              <a:t>OAPA Academy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000000"/>
                </a:solidFill>
                <a:latin typeface="Georgia"/>
              </a:rPr>
              <a:t>Moodle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5A766C-AEF1-4AC1-9BB2-8FECACB372CA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7334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81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 b="0" i="1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  <a:r>
              <a:rPr sz="1900" b="0" i="1">
                <a:solidFill>
                  <a:srgbClr val="000000"/>
                </a:solidFill>
                <a:latin typeface="Georgia"/>
              </a:rPr>
              <a:t>A working, reusable learner journey built inside the OAPA Academy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63BB6E5-AAA3-4DAA-B967-CE2D72AB609A}"/>
              </a:ext>
            </a:extLst>
          </p:cNvPr>
          <p:cNvSpPr>
            <a:spLocks noGrp="1"/>
          </p:cNvSpPr>
          <p:nvPr/>
        </p:nvSpPr>
        <p:spPr>
          <a:xfrm>
            <a:off x="590550" y="5057775"/>
            <a:ext cx="66675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CBD73-72F2-4CCF-9446-9EE4AC8FA8AC}"/>
              </a:ext>
            </a:extLst>
          </p:cNvPr>
          <p:cNvSpPr>
            <a:spLocks noGrp="1"/>
          </p:cNvSpPr>
          <p:nvPr/>
        </p:nvSpPr>
        <p:spPr>
          <a:xfrm>
            <a:off x="590550" y="5276850"/>
            <a:ext cx="8096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</a:rPr>
              <a:t>OAPA already had Moodle, but future courses still needed a consistent structure, progression model and assessment flow. Sprint 2 turned the validated Sprint 1 design into a working Core MVP that content experts can reuse instead of rebuilding the learner experience each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FFF39D-B89F-4F4A-8EE1-EEE19A8B9E57}"/>
              </a:ext>
            </a:extLst>
          </p:cNvPr>
          <p:cNvSpPr>
            <a:spLocks noGrp="1"/>
          </p:cNvSpPr>
          <p:nvPr/>
        </p:nvSpPr>
        <p:spPr>
          <a:xfrm>
            <a:off x="9210675" y="5257800"/>
            <a:ext cx="238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ARYAN RAJENDRA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PROJECT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00688-C412-4AC5-821F-B57BC8BE1CE2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01 / PROJECT OVERVIEW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62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69"/>
    </mc:Choice>
    <mc:Fallback>
      <p:transition spd="slow" advTm="257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2A8AA63-D5CD-43D9-8FF0-03D199965CA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02 / ORIGINAL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BBCA5-0A5E-4A13-9245-B1D5D4FA0439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Sprint 2: Core MVP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CA4FF-6C5D-4D34-8997-E53A3825F758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1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000000"/>
                </a:solidFill>
                <a:latin typeface="Georgia"/>
              </a:rPr>
              <a:t>The baseline against which delivery is measured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96BA8-3F37-4F8E-B997-4152621488CF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SPRINT 2 GOAL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0DE24-BC37-42D5-90A7-9EB69FFD1E50}"/>
              </a:ext>
            </a:extLst>
          </p:cNvPr>
          <p:cNvSpPr>
            <a:spLocks noGrp="1"/>
          </p:cNvSpPr>
          <p:nvPr/>
        </p:nvSpPr>
        <p:spPr>
          <a:xfrm>
            <a:off x="552450" y="2009775"/>
            <a:ext cx="10668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2500" b="0" i="0">
                <a:solidFill>
                  <a:srgbClr val="000000"/>
                </a:solidFill>
                <a:latin typeface="Georgia"/>
              </a:rPr>
              <a:t>Implement one representative reusable OAPA learner journey end to end in the new Academy.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BE428FB4-C55C-43C4-B8FA-D3659692D4E7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06680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10DFE-3464-4348-BC9A-FA5BCC85D8FC}"/>
              </a:ext>
            </a:extLst>
          </p:cNvPr>
          <p:cNvSpPr>
            <a:spLocks noGrp="1"/>
          </p:cNvSpPr>
          <p:nvPr/>
        </p:nvSpPr>
        <p:spPr>
          <a:xfrm>
            <a:off x="571500" y="34099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CORE BUILD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10E4C-272E-4008-B458-046CBCD0EC37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23241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074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000000"/>
                </a:solidFill>
                <a:latin typeface="Arial"/>
              </a:rPr>
              <a:t>Course Home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Modules 1–3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Workshops 1–3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Assessment area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C8CE325-DBED-4827-8D86-749999ED7834}"/>
              </a:ext>
            </a:extLst>
          </p:cNvPr>
          <p:cNvSpPr>
            <a:spLocks noGrp="1"/>
          </p:cNvSpPr>
          <p:nvPr/>
        </p:nvSpPr>
        <p:spPr>
          <a:xfrm>
            <a:off x="3048000" y="3390900"/>
            <a:ext cx="0" cy="1695450"/>
          </a:xfrm>
          <a:prstGeom prst="line">
            <a:avLst/>
          </a:prstGeom>
          <a:noFill/>
          <a:ln w="9525">
            <a:solidFill>
              <a:srgbClr val="E6E6E6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AC8498-238A-4B25-BD57-67F088C0C50E}"/>
              </a:ext>
            </a:extLst>
          </p:cNvPr>
          <p:cNvSpPr>
            <a:spLocks noGrp="1"/>
          </p:cNvSpPr>
          <p:nvPr/>
        </p:nvSpPr>
        <p:spPr>
          <a:xfrm>
            <a:off x="3295650" y="34099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LEARNER 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4E5447-EA7E-41E0-BD51-1A1958A088AD}"/>
              </a:ext>
            </a:extLst>
          </p:cNvPr>
          <p:cNvSpPr>
            <a:spLocks noGrp="1"/>
          </p:cNvSpPr>
          <p:nvPr/>
        </p:nvSpPr>
        <p:spPr>
          <a:xfrm>
            <a:off x="3295650" y="3743325"/>
            <a:ext cx="23241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000000"/>
                </a:solidFill>
                <a:latin typeface="Arial"/>
              </a:rPr>
              <a:t>Sequential completion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Visible progress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Locked/unlocked states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2-of-3 workshop eligibility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984D0B2-0598-46EB-B583-D320D455A01F}"/>
              </a:ext>
            </a:extLst>
          </p:cNvPr>
          <p:cNvSpPr>
            <a:spLocks noGrp="1"/>
          </p:cNvSpPr>
          <p:nvPr/>
        </p:nvSpPr>
        <p:spPr>
          <a:xfrm>
            <a:off x="5772150" y="3390900"/>
            <a:ext cx="0" cy="1695450"/>
          </a:xfrm>
          <a:prstGeom prst="line">
            <a:avLst/>
          </a:prstGeom>
          <a:noFill/>
          <a:ln w="9525">
            <a:solidFill>
              <a:srgbClr val="E6E6E6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E550-8F84-4AD2-92AC-7BA7B59E75B8}"/>
              </a:ext>
            </a:extLst>
          </p:cNvPr>
          <p:cNvSpPr>
            <a:spLocks noGrp="1"/>
          </p:cNvSpPr>
          <p:nvPr/>
        </p:nvSpPr>
        <p:spPr>
          <a:xfrm>
            <a:off x="6019800" y="34099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ASSESSMENT &amp; TRACKING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AEEC6-B209-4C24-BBE1-98EAFD55C49B}"/>
              </a:ext>
            </a:extLst>
          </p:cNvPr>
          <p:cNvSpPr>
            <a:spLocks noGrp="1"/>
          </p:cNvSpPr>
          <p:nvPr/>
        </p:nvSpPr>
        <p:spPr>
          <a:xfrm>
            <a:off x="6019800" y="3743325"/>
            <a:ext cx="23241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000000"/>
                </a:solidFill>
                <a:latin typeface="Arial"/>
              </a:rPr>
              <a:t>Soft feedback stage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Revision to final submission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Grade visibility / extensions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Completion &amp; reporting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21C9FC6-4271-44CC-851C-0F65FD762062}"/>
              </a:ext>
            </a:extLst>
          </p:cNvPr>
          <p:cNvSpPr>
            <a:spLocks noGrp="1"/>
          </p:cNvSpPr>
          <p:nvPr/>
        </p:nvSpPr>
        <p:spPr>
          <a:xfrm>
            <a:off x="8496300" y="3390900"/>
            <a:ext cx="0" cy="1695450"/>
          </a:xfrm>
          <a:prstGeom prst="line">
            <a:avLst/>
          </a:prstGeom>
          <a:noFill/>
          <a:ln w="9525">
            <a:solidFill>
              <a:srgbClr val="E6E6E6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C2F59-C6B8-48C9-A3C3-835CD3E321D3}"/>
              </a:ext>
            </a:extLst>
          </p:cNvPr>
          <p:cNvSpPr>
            <a:spLocks noGrp="1"/>
          </p:cNvSpPr>
          <p:nvPr/>
        </p:nvSpPr>
        <p:spPr>
          <a:xfrm>
            <a:off x="8743950" y="34099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REUSE &amp; QUALITY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BA6784-010A-4168-BFD3-B6458CFCD13D}"/>
              </a:ext>
            </a:extLst>
          </p:cNvPr>
          <p:cNvSpPr>
            <a:spLocks noGrp="1"/>
          </p:cNvSpPr>
          <p:nvPr/>
        </p:nvSpPr>
        <p:spPr>
          <a:xfrm>
            <a:off x="8743950" y="3743325"/>
            <a:ext cx="23241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000000"/>
                </a:solidFill>
                <a:latin typeface="Arial"/>
              </a:rPr>
              <a:t>Content-expert reuse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Student/Teacher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UX &amp; accessibility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Arial"/>
              </a:rPr>
              <a:t>Admin handover path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3D1A31-30A9-4361-BED8-8BA531DB8143}"/>
              </a:ext>
            </a:extLst>
          </p:cNvPr>
          <p:cNvSpPr>
            <a:spLocks noGrp="1"/>
          </p:cNvSpPr>
          <p:nvPr/>
        </p:nvSpPr>
        <p:spPr>
          <a:xfrm>
            <a:off x="571500" y="5495925"/>
            <a:ext cx="10096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000000"/>
                </a:solidFill>
                <a:latin typeface="Georgia"/>
              </a:rPr>
              <a:t>Sprint 2 was the build sprint: the target was a rough but genuinely functional Core MVP, not another prototype.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1AA11E-4487-47C6-B549-6F5102985971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02 / ORIGINAL PLAN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04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498"/>
    </mc:Choice>
    <mc:Fallback>
      <p:transition spd="slow" advTm="4149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E7990F7-0EC3-4756-AC8D-E8592A221CE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03A / ACTUAL ACHIEVEMENT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4287E5-3BC7-4B6C-AD81-80495A4E4C0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End-to-end learner flow works in the deployed OAPA Academy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FCBD3-FD64-4510-A159-E6EEF3765E21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1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000000"/>
                </a:solidFill>
                <a:latin typeface="Georgia"/>
              </a:rPr>
              <a:t>Course Home → sequential Modules 1–3 → visible completion/locking → workshop progression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EB9F8-9BA0-4479-968C-BD90E553C664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03A / ACTUAL ACHIEVEMENT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66928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9328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01 / COURSE HOME + PROGRESSION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8880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02 / WORKSHOP PROGRESSION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4407408"/>
            <a:ext cx="10716768" cy="10241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3552" y="4559808"/>
            <a:ext cx="10310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LIVE OAPA 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552" y="4839208"/>
            <a:ext cx="10310368" cy="490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Student view in academy.open-publishing.org  /  sequential progression and Done states visible  /  workshop step running inside the same course</a:t>
            </a:r>
          </a:p>
        </p:txBody>
      </p:sp>
      <p:pic>
        <p:nvPicPr>
          <p:cNvPr id="58" name="Picture 57" descr="3A_course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20" y="1993392"/>
            <a:ext cx="3803096" cy="1938528"/>
          </a:xfrm>
          <a:prstGeom prst="rect">
            <a:avLst/>
          </a:prstGeom>
        </p:spPr>
      </p:pic>
      <p:pic>
        <p:nvPicPr>
          <p:cNvPr id="59" name="Picture 58" descr="3A_workshop_progre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30" y="1993392"/>
            <a:ext cx="3750379" cy="19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86"/>
    </mc:Choice>
    <mc:Fallback>
      <p:transition spd="slow" advTm="1478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E7990F7-0EC3-4756-AC8D-E8592A221CE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03B / ACTUAL ACHIEVEMENT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4287E5-3BC7-4B6C-AD81-80495A4E4C0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The real business workflow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FCBD3-FD64-4510-A159-E6EEF3765E21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1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000000"/>
                </a:solidFill>
                <a:latin typeface="Georgia"/>
              </a:rPr>
              <a:t>Any 2 of 3 workshops → Final Assignment unlocks → soft feedback/revision → final submission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EB9F8-9BA0-4479-968C-BD90E553C664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03B / ACTUAL ACHIEVEMENT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66928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9328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03 / 1 WORKSHOP = ASSESSMENT LOCKED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8880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04 / 2 WORKSHOPS = ASSESSMENT UNLOCKED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4407408"/>
            <a:ext cx="10716768" cy="10241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3552" y="4559808"/>
            <a:ext cx="10310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BUSINESS RULE VERIFIED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552" y="4839208"/>
            <a:ext cx="10310368" cy="490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1 workshop = locked  /  2 workshops = unlocked  /  formative submission remains stored as Submitted for grading</a:t>
            </a:r>
          </a:p>
        </p:txBody>
      </p:sp>
      <p:pic>
        <p:nvPicPr>
          <p:cNvPr id="58" name="Picture 57" descr="3B_one_workshop_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356" y="1993392"/>
            <a:ext cx="3779223" cy="1938528"/>
          </a:xfrm>
          <a:prstGeom prst="rect">
            <a:avLst/>
          </a:prstGeom>
        </p:spPr>
      </p:pic>
      <p:pic>
        <p:nvPicPr>
          <p:cNvPr id="59" name="Picture 58" descr="3B_two_workshops_unl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916" y="1993392"/>
            <a:ext cx="3851208" cy="1938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384"/>
    </mc:Choice>
    <mc:Fallback>
      <p:transition spd="slow" advTm="1538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E7990F7-0EC3-4756-AC8D-E8592A221CE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03C / ACTUAL ACHIEVEMENT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4287E5-3BC7-4B6C-AD81-80495A4E4C0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Reusable interactivity and framework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FCBD3-FD64-4510-A159-E6EEF3765E21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1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000000"/>
                </a:solidFill>
                <a:latin typeface="Georgia"/>
              </a:rPr>
              <a:t>H5P Question Set works in OAPA Academy + native Quiz fallback + reusable, editable course structure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EB9F8-9BA0-4479-968C-BD90E553C664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03C / ACTUAL ACHIEVEMENT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566928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9328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05 / H5P QUESTION SET IN OAPA ACADEMY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1554480"/>
            <a:ext cx="5230368" cy="254203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8880" y="1706880"/>
            <a:ext cx="4925568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PROOF 06 / CONTENT EDIT + IMPORT / REUSE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4407408"/>
            <a:ext cx="10716768" cy="10241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3552" y="4559808"/>
            <a:ext cx="10310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REUSABLE INTERACTIVITY + FRAMEWORK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552" y="4839208"/>
            <a:ext cx="10310368" cy="490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H5P creates, renders and checks answers in OAPA Academy  /  native Quiz fallback retained  /  template content can be edited and imported without rebuilding learner logic</a:t>
            </a:r>
          </a:p>
        </p:txBody>
      </p:sp>
      <p:pic>
        <p:nvPicPr>
          <p:cNvPr id="58" name="Picture 57" descr="3C_h5p_feed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172" y="1993392"/>
            <a:ext cx="3833591" cy="1938528"/>
          </a:xfrm>
          <a:prstGeom prst="rect">
            <a:avLst/>
          </a:prstGeom>
        </p:spPr>
      </p:pic>
      <p:pic>
        <p:nvPicPr>
          <p:cNvPr id="59" name="Picture 58" descr="3C_reuse_edit_im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303873"/>
            <a:ext cx="4882896" cy="1317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265"/>
    </mc:Choice>
    <mc:Fallback>
      <p:transition spd="slow" advTm="202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DE64652-AD2E-4B11-9757-D2BDF97DEC2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04 / WHY IT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96B37-A5B2-4C5C-9AE1-AF275A46D30B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One tested framework, reused across future OAPA courses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C6B5F4-9188-405A-9D91-CF453BD06D1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428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2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8000" b="0" i="0">
                <a:solidFill>
                  <a:srgbClr val="000000"/>
                </a:solidFill>
                <a:latin typeface="Georgi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43EB7-D9AA-43EE-A49E-CD0DDADB81F2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</a:rPr>
              <a:t>MASTER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FRAMEWORK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A196A38-C0AC-4E7D-B5C3-0B5061421707}"/>
              </a:ext>
            </a:extLst>
          </p:cNvPr>
          <p:cNvSpPr>
            <a:spLocks noGrp="1"/>
          </p:cNvSpPr>
          <p:nvPr/>
        </p:nvSpPr>
        <p:spPr>
          <a:xfrm>
            <a:off x="2333625" y="2705100"/>
            <a:ext cx="2571750" cy="0"/>
          </a:xfrm>
          <a:prstGeom prst="line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F1DDF-C3E5-40EB-BCAF-BDCBA98CC9B2}"/>
              </a:ext>
            </a:extLst>
          </p:cNvPr>
          <p:cNvSpPr>
            <a:spLocks noGrp="1"/>
          </p:cNvSpPr>
          <p:nvPr/>
        </p:nvSpPr>
        <p:spPr>
          <a:xfrm>
            <a:off x="3171825" y="23812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REUSE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40560-CA42-4223-923C-C93AE8311C7C}"/>
              </a:ext>
            </a:extLst>
          </p:cNvPr>
          <p:cNvSpPr>
            <a:spLocks noGrp="1"/>
          </p:cNvSpPr>
          <p:nvPr/>
        </p:nvSpPr>
        <p:spPr>
          <a:xfrm>
            <a:off x="5029200" y="1933575"/>
            <a:ext cx="333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5200" b="0" i="0">
                <a:solidFill>
                  <a:srgbClr val="000000"/>
                </a:solidFill>
                <a:latin typeface="Georgia"/>
              </a:rPr>
              <a:t>MANY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B0FAC-733A-47E1-821F-2C95DB0C640B}"/>
              </a:ext>
            </a:extLst>
          </p:cNvPr>
          <p:cNvSpPr>
            <a:spLocks noGrp="1"/>
          </p:cNvSpPr>
          <p:nvPr/>
        </p:nvSpPr>
        <p:spPr>
          <a:xfrm>
            <a:off x="5429250" y="2943225"/>
            <a:ext cx="2533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</a:rPr>
              <a:t>FUTURE COURSES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E8510-A531-441D-8904-7063C7665AA6}"/>
              </a:ext>
            </a:extLst>
          </p:cNvPr>
          <p:cNvSpPr>
            <a:spLocks noGrp="1"/>
          </p:cNvSpPr>
          <p:nvPr/>
        </p:nvSpPr>
        <p:spPr>
          <a:xfrm>
            <a:off x="4953000" y="3524250"/>
            <a:ext cx="16954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02EE9-4792-4341-8C11-34B6B7A9D718}"/>
              </a:ext>
            </a:extLst>
          </p:cNvPr>
          <p:cNvSpPr>
            <a:spLocks noGrp="1"/>
          </p:cNvSpPr>
          <p:nvPr/>
        </p:nvSpPr>
        <p:spPr>
          <a:xfrm>
            <a:off x="5124450" y="3762375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COURSE 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79765-4E25-4ED6-BF81-B4136CC7D4CD}"/>
              </a:ext>
            </a:extLst>
          </p:cNvPr>
          <p:cNvSpPr>
            <a:spLocks noGrp="1"/>
          </p:cNvSpPr>
          <p:nvPr/>
        </p:nvSpPr>
        <p:spPr>
          <a:xfrm>
            <a:off x="5105400" y="4086225"/>
            <a:ext cx="1390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100" b="0" i="1">
                <a:solidFill>
                  <a:srgbClr val="000000"/>
                </a:solidFill>
                <a:latin typeface="Georgia"/>
              </a:rPr>
              <a:t>Content experts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Georgia"/>
              </a:rPr>
              <a:t>replace 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3896D8-7102-4037-9CBD-C3A27398FD0C}"/>
              </a:ext>
            </a:extLst>
          </p:cNvPr>
          <p:cNvSpPr>
            <a:spLocks noGrp="1"/>
          </p:cNvSpPr>
          <p:nvPr/>
        </p:nvSpPr>
        <p:spPr>
          <a:xfrm>
            <a:off x="7143750" y="3524250"/>
            <a:ext cx="16954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3647C-E4B6-4989-B34C-15169DD40F19}"/>
              </a:ext>
            </a:extLst>
          </p:cNvPr>
          <p:cNvSpPr>
            <a:spLocks noGrp="1"/>
          </p:cNvSpPr>
          <p:nvPr/>
        </p:nvSpPr>
        <p:spPr>
          <a:xfrm>
            <a:off x="7315200" y="3762375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COURSE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9AD00-C84F-4758-BB44-E8F127C2E8A9}"/>
              </a:ext>
            </a:extLst>
          </p:cNvPr>
          <p:cNvSpPr>
            <a:spLocks noGrp="1"/>
          </p:cNvSpPr>
          <p:nvPr/>
        </p:nvSpPr>
        <p:spPr>
          <a:xfrm>
            <a:off x="7296150" y="4086225"/>
            <a:ext cx="1390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100" b="0" i="1">
                <a:solidFill>
                  <a:srgbClr val="000000"/>
                </a:solidFill>
                <a:latin typeface="Georgia"/>
              </a:rPr>
              <a:t>Core rules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Georgia"/>
              </a:rPr>
              <a:t>stay preconfigured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D7B7F5-7AF0-4FB9-BEA0-B5359963C825}"/>
              </a:ext>
            </a:extLst>
          </p:cNvPr>
          <p:cNvSpPr>
            <a:spLocks noGrp="1"/>
          </p:cNvSpPr>
          <p:nvPr/>
        </p:nvSpPr>
        <p:spPr>
          <a:xfrm>
            <a:off x="9334500" y="3524250"/>
            <a:ext cx="16954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4EEF63-E7C6-4880-95F9-40941BB30921}"/>
              </a:ext>
            </a:extLst>
          </p:cNvPr>
          <p:cNvSpPr>
            <a:spLocks noGrp="1"/>
          </p:cNvSpPr>
          <p:nvPr/>
        </p:nvSpPr>
        <p:spPr>
          <a:xfrm>
            <a:off x="9505950" y="3762375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COURSE 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48271-03A3-4248-9C6A-A579AB3672A9}"/>
              </a:ext>
            </a:extLst>
          </p:cNvPr>
          <p:cNvSpPr>
            <a:spLocks noGrp="1"/>
          </p:cNvSpPr>
          <p:nvPr/>
        </p:nvSpPr>
        <p:spPr>
          <a:xfrm>
            <a:off x="9486900" y="4086225"/>
            <a:ext cx="1390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100" b="0" i="1">
                <a:solidFill>
                  <a:srgbClr val="000000"/>
                </a:solidFill>
                <a:latin typeface="Georgia"/>
              </a:rPr>
              <a:t>Structure adapts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Georgia"/>
              </a:rPr>
              <a:t>without rebuild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EE9DB20-8E87-4244-BAF2-4DB0FBA4D2C7}"/>
              </a:ext>
            </a:extLst>
          </p:cNvPr>
          <p:cNvSpPr>
            <a:spLocks noGrp="1"/>
          </p:cNvSpPr>
          <p:nvPr/>
        </p:nvSpPr>
        <p:spPr>
          <a:xfrm>
            <a:off x="6657975" y="4057650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70E0D15-BC2A-4A7C-9B11-64012E8028F3}"/>
              </a:ext>
            </a:extLst>
          </p:cNvPr>
          <p:cNvSpPr>
            <a:spLocks noGrp="1"/>
          </p:cNvSpPr>
          <p:nvPr/>
        </p:nvSpPr>
        <p:spPr>
          <a:xfrm>
            <a:off x="8848725" y="4057650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23D5E-810D-4A9D-B60C-195FFB1DDC0F}"/>
              </a:ext>
            </a:extLst>
          </p:cNvPr>
          <p:cNvSpPr>
            <a:spLocks noGrp="1"/>
          </p:cNvSpPr>
          <p:nvPr/>
        </p:nvSpPr>
        <p:spPr>
          <a:xfrm>
            <a:off x="581025" y="5210175"/>
            <a:ext cx="9953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000000"/>
                </a:solidFill>
                <a:latin typeface="Georgia"/>
              </a:rPr>
              <a:t>OAPA can now reuse a preconfigured learner flow instead of redesigning progression, eligibility, assessment and tracking for every course. Learners get a predictable path; content experts focus on content rather than rebuilding Moodle logic.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7CB265-2481-4ED7-BE7D-4F7D10665734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04 / CLIENT VALUE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5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05"/>
    </mc:Choice>
    <mc:Fallback>
      <p:transition spd="slow" advTm="392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1AB24A-F32F-467C-B282-26996934C68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05 / BLOCKERS &amp; OPEN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8E961-7E2B-43F9-9128-9A05C6C0A75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071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The remaining blocker is environment-level, not Core MVP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AE453D-31F7-4C31-9BA9-8E5977B51B56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2238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CURRENT BLOCKER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3AC01C-39FF-467A-9DAA-F4D2F8E09382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682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700" b="0" i="0">
                <a:solidFill>
                  <a:srgbClr val="000000"/>
                </a:solidFill>
                <a:latin typeface="Georgia"/>
              </a:rPr>
              <a:t>Team 74 still needs an isolated Academy copy with the site-level capability required to finish the remaining integration and visual changes safely, without touching live learner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D77E7-A39F-49E7-99D2-FF190A40AB3A}"/>
              </a:ext>
            </a:extLst>
          </p:cNvPr>
          <p:cNvSpPr>
            <a:spLocks noGrp="1"/>
          </p:cNvSpPr>
          <p:nvPr/>
        </p:nvSpPr>
        <p:spPr>
          <a:xfrm>
            <a:off x="571500" y="340042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600" b="0" i="0">
                <a:solidFill>
                  <a:srgbClr val="000000"/>
                </a:solidFill>
                <a:latin typeface="Georgia"/>
              </a:rPr>
              <a:t>Our response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07C43-E4B6-414B-8186-C92AB1483D00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000000"/>
                </a:solidFill>
                <a:latin typeface="Arial"/>
              </a:rPr>
              <a:t>We requested a sanitised development copy from Sam. Michael said he will also follow up with Sam. Course-level implementation is complete where current Teacher access permits; the blocked items resume as soon as the copy/permissions arrive.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015C8-48EA-4572-B384-6A35943E58CF}"/>
              </a:ext>
            </a:extLst>
          </p:cNvPr>
          <p:cNvSpPr>
            <a:spLocks noGrp="1"/>
          </p:cNvSpPr>
          <p:nvPr/>
        </p:nvSpPr>
        <p:spPr>
          <a:xfrm>
            <a:off x="571500" y="5210175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OPEN IMPLEMENTATION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8C99D7-BFE7-4A0F-B5E6-09C2F9122CA0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400" b="0" i="1" dirty="0">
                <a:solidFill>
                  <a:srgbClr val="000000"/>
                </a:solidFill>
                <a:latin typeface="Georgia"/>
              </a:rPr>
              <a:t>Teams workshop integration + verified attendance  </a:t>
            </a:r>
            <a:endParaRPr lang="en-GB" sz="1400" b="0" i="1" dirty="0">
              <a:solidFill>
                <a:srgbClr val="000000"/>
              </a:solidFill>
              <a:latin typeface="Georgi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400" b="0" i="1" dirty="0">
                <a:solidFill>
                  <a:srgbClr val="000000"/>
                </a:solidFill>
                <a:latin typeface="Georgia"/>
              </a:rPr>
              <a:t>/  OAPA fonts &amp; branding  /  site-level navigation</a:t>
            </a:r>
            <a:endParaRPr lang="en-GB" sz="1400" b="0" i="1" dirty="0">
              <a:solidFill>
                <a:srgbClr val="000000"/>
              </a:solidFill>
              <a:latin typeface="Georgi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400" b="0" i="1" dirty="0">
                <a:solidFill>
                  <a:srgbClr val="000000"/>
                </a:solidFill>
                <a:latin typeface="Georgia"/>
              </a:rPr>
              <a:t> and accessibility refinements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62EAE9-32A3-49BA-A899-85421269D81D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05 / BLOCKERS &amp; OPEN QUESTIONS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35040" y="1572768"/>
            <a:ext cx="5303520" cy="4618482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AU" dirty="0"/>
          </a:p>
          <a:p>
            <a:pPr algn="ctr"/>
            <a:endParaRPr lang="en-AU" dirty="0"/>
          </a:p>
          <a:p>
            <a:pPr algn="ctr"/>
            <a:endParaRPr lang="en-AU" dirty="0"/>
          </a:p>
          <a:p>
            <a:pPr algn="ctr"/>
            <a:endParaRPr lang="en-AU" dirty="0"/>
          </a:p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187440" y="1725168"/>
            <a:ext cx="499872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BLOCKER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087368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ACCESS COPY / SITE-LEVEL PERMISSIONS / PENDING MONDAY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4ECE5E-D534-3E28-5AD9-D21B1E0A9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076" y="2023879"/>
            <a:ext cx="4816964" cy="23888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5C4CF2-0D11-A791-9122-C73CF3FDF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076" y="4529372"/>
            <a:ext cx="4581103" cy="15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22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08"/>
    </mc:Choice>
    <mc:Fallback>
      <p:transition spd="slow" advTm="4200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3E831FC-9BC7-4BDF-8A9D-FF5D3B184CF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</a:rPr>
              <a:t>06 / TASK ALLOCATION &amp;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84114-F3A2-4F40-9AEC-9BD853362584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703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00000"/>
                </a:solidFill>
                <a:latin typeface="Georgia"/>
              </a:rPr>
              <a:t>60 logged team-hours across the Sprint 2 Core MVP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86929-C19A-4E3C-9C6A-7F11D00DE1A8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42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3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000000"/>
                </a:solidFill>
                <a:latin typeface="Georgia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CB9C2D-9B9C-48B3-8839-90D712359C2E}"/>
              </a:ext>
            </a:extLst>
          </p:cNvPr>
          <p:cNvSpPr>
            <a:spLocks noGrp="1"/>
          </p:cNvSpPr>
          <p:nvPr/>
        </p:nvSpPr>
        <p:spPr>
          <a:xfrm>
            <a:off x="2019300" y="1876425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000000"/>
                </a:solidFill>
                <a:latin typeface="Arial"/>
              </a:rPr>
              <a:t>TEAM-HOURS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097DF-59E1-4033-AD4A-BBA3B4E9F25A}"/>
              </a:ext>
            </a:extLst>
          </p:cNvPr>
          <p:cNvSpPr>
            <a:spLocks noGrp="1"/>
          </p:cNvSpPr>
          <p:nvPr/>
        </p:nvSpPr>
        <p:spPr>
          <a:xfrm>
            <a:off x="2019300" y="21336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 dirty="0">
                <a:solidFill>
                  <a:srgbClr val="000000"/>
                </a:solidFill>
                <a:latin typeface="Arial"/>
              </a:rPr>
              <a:t>WEEK 1 / COMPLETED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F7B7B-C51A-42CE-901D-C4EBC26C3753}"/>
              </a:ext>
            </a:extLst>
          </p:cNvPr>
          <p:cNvSpPr>
            <a:spLocks noGrp="1"/>
          </p:cNvSpPr>
          <p:nvPr/>
        </p:nvSpPr>
        <p:spPr>
          <a:xfrm>
            <a:off x="4238625" y="1695450"/>
            <a:ext cx="142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3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000000"/>
                </a:solidFill>
                <a:latin typeface="Georgia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4FB5A-B8EC-4FB4-831F-9F63C877838A}"/>
              </a:ext>
            </a:extLst>
          </p:cNvPr>
          <p:cNvSpPr>
            <a:spLocks noGrp="1"/>
          </p:cNvSpPr>
          <p:nvPr/>
        </p:nvSpPr>
        <p:spPr>
          <a:xfrm>
            <a:off x="5686425" y="1876425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</a:rPr>
              <a:t>TEAM-HOURS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8D7A5-ACC5-4BDC-BED7-178F174A4490}"/>
              </a:ext>
            </a:extLst>
          </p:cNvPr>
          <p:cNvSpPr>
            <a:spLocks noGrp="1"/>
          </p:cNvSpPr>
          <p:nvPr/>
        </p:nvSpPr>
        <p:spPr>
          <a:xfrm>
            <a:off x="5686425" y="21336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WEEK 2 /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02B6D-646A-440D-9A06-2AE3874CC8F3}"/>
              </a:ext>
            </a:extLst>
          </p:cNvPr>
          <p:cNvSpPr>
            <a:spLocks noGrp="1"/>
          </p:cNvSpPr>
          <p:nvPr/>
        </p:nvSpPr>
        <p:spPr>
          <a:xfrm>
            <a:off x="7905750" y="1695450"/>
            <a:ext cx="142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35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000000"/>
                </a:solidFill>
                <a:latin typeface="Georgia"/>
              </a:rPr>
              <a:t>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EBC299-16DC-4625-B59F-BA4DDA4256CC}"/>
              </a:ext>
            </a:extLst>
          </p:cNvPr>
          <p:cNvSpPr>
            <a:spLocks noGrp="1"/>
          </p:cNvSpPr>
          <p:nvPr/>
        </p:nvSpPr>
        <p:spPr>
          <a:xfrm>
            <a:off x="9353550" y="1876425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</a:rPr>
              <a:t>TEAM-HOURS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1C83F-B260-4A09-8552-A9098E139285}"/>
              </a:ext>
            </a:extLst>
          </p:cNvPr>
          <p:cNvSpPr>
            <a:spLocks noGrp="1"/>
          </p:cNvSpPr>
          <p:nvPr/>
        </p:nvSpPr>
        <p:spPr>
          <a:xfrm>
            <a:off x="9353550" y="21336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WEEK 3 / COMPLETED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65A6098-9FE1-4E02-B673-2D53DC151CF6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0668000" cy="0"/>
          </a:xfrm>
          <a:prstGeom prst="line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1932587697"/>
              </p:ext>
            </p:extLst>
          </p:nvPr>
        </p:nvGraphicFramePr>
        <p:xfrm>
          <a:off x="591471" y="2914650"/>
          <a:ext cx="11009057" cy="2578100"/>
        </p:xfrm>
        <a:graphic>
          <a:graphicData uri="http://schemas.openxmlformats.org/drawingml/2006/table">
            <a:tbl>
              <a:tblPr/>
              <a:tblGrid>
                <a:gridCol w="1370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0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000000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Sprint 2 task groups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000000"/>
                          </a:solidFill>
                          <a:latin typeface="Arial"/>
                        </a:rPr>
                        <a:t>Hours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Aryan Rajendra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PM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T31–32 planning/governance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T41–42 review/escalation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T51–52 closeout/playback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12 h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Riley Pittard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BA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T33–34 acceptance/decisions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T43–44 validation/workflows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T53–54 final acceptance/gaps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12 h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Walaa Ghanduri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UX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T35–36 UX handoff/feasibility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T45–46 build/accessibility review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T55–56 final UX/brand handover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12 h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Reshan Lahandapura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Dev 1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T37–38 reusable shell/progression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T47–48 workshop/assessment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T57–58 fixes/reuse handover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12 h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Shaikh Zarin Tasnim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Dev 2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T39–40 interactivity/cross-test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T49–50 tracking/edge cases</a:t>
                      </a:r>
                      <a:r>
                        <a:rPr lang="en-AU"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 T59–60 regression/quality closeout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12 h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>
                          <a:solidFill>
                            <a:srgbClr val="000000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76200" marR="7620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83053A40-3378-4657-AFF3-6BA818AAC963}"/>
              </a:ext>
            </a:extLst>
          </p:cNvPr>
          <p:cNvSpPr>
            <a:spLocks noGrp="1"/>
          </p:cNvSpPr>
          <p:nvPr/>
        </p:nvSpPr>
        <p:spPr>
          <a:xfrm>
            <a:off x="904874" y="5676900"/>
            <a:ext cx="1038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1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1250" b="0" i="1" dirty="0">
                <a:solidFill>
                  <a:srgbClr val="000000"/>
                </a:solidFill>
                <a:latin typeface="Georgia"/>
              </a:rPr>
              <a:t>Planner / CRM control: 4 hours per member per week × 3 weeks = 12 hours each. Every Sprint 2 week retained the 20 team-hour allocation.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EDDC94-829D-434A-A347-7959F7B1A279}"/>
              </a:ext>
            </a:extLst>
          </p:cNvPr>
          <p:cNvSpPr>
            <a:spLocks noGrp="1"/>
          </p:cNvSpPr>
          <p:nvPr/>
        </p:nvSpPr>
        <p:spPr>
          <a:xfrm>
            <a:off x="552450" y="6569592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00" b="1" i="0">
                <a:solidFill>
                  <a:srgbClr val="000000"/>
                </a:solidFill>
                <a:latin typeface="Arial"/>
              </a:rPr>
              <a:t>06 / ALLOCATION &amp; TIME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93826" y="6393933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5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926"/>
    </mc:Choice>
    <mc:Fallback>
      <p:transition spd="slow" advTm="539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E90F742-DFED-484B-B889-918399D9115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07A / SPRINT 2 TIMELINE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FBD18-9345-48C3-AEAE-62235CE3FB5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0668000" cy="5733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106"/>
          </a:bodyPr>
          <a:lstStyle/>
          <a:p>
            <a:pPr algn="l"/>
            <a:r>
              <a:rPr sz="2800" b="0" i="0" dirty="0">
                <a:solidFill>
                  <a:srgbClr val="000000"/>
                </a:solidFill>
                <a:latin typeface="Georgia"/>
              </a:rPr>
              <a:t>Sprint 2 formal meetings and advisor coverage — Weeks 1–2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E65F67C-1DCD-4D5E-A4BC-D1E16D4550DE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0287000" cy="0"/>
          </a:xfrm>
          <a:prstGeom prst="line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1C3562-5E14-4C0F-BE36-955A8765C0FE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BD7D5-3F5B-4EA4-8005-492DFE017BCB}"/>
              </a:ext>
            </a:extLst>
          </p:cNvPr>
          <p:cNvSpPr>
            <a:spLocks noGrp="1"/>
          </p:cNvSpPr>
          <p:nvPr/>
        </p:nvSpPr>
        <p:spPr>
          <a:xfrm>
            <a:off x="957262" y="1971676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15 SEP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E986C8-88C8-4A1F-BE61-66360BE11D62}"/>
              </a:ext>
            </a:extLst>
          </p:cNvPr>
          <p:cNvSpPr>
            <a:spLocks noGrp="1"/>
          </p:cNvSpPr>
          <p:nvPr/>
        </p:nvSpPr>
        <p:spPr>
          <a:xfrm>
            <a:off x="676275" y="2278626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Internal team meeting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AFBA2-79E2-48FA-8E2D-2CFA3CE3C18D}"/>
              </a:ext>
            </a:extLst>
          </p:cNvPr>
          <p:cNvSpPr>
            <a:spLocks noGrp="1"/>
          </p:cNvSpPr>
          <p:nvPr/>
        </p:nvSpPr>
        <p:spPr>
          <a:xfrm>
            <a:off x="457200" y="3190875"/>
            <a:ext cx="180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1 hour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Reviewed the Core MVP build sequence, Planner progress, access needs and evidence expectations.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853EC-D57A-4BBD-97CB-2EC7B9153988}"/>
              </a:ext>
            </a:extLst>
          </p:cNvPr>
          <p:cNvSpPr>
            <a:spLocks noGrp="1"/>
          </p:cNvSpPr>
          <p:nvPr/>
        </p:nvSpPr>
        <p:spPr>
          <a:xfrm>
            <a:off x="3305175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F2AF7-79B2-4FFC-B68D-ACB97DAC104E}"/>
              </a:ext>
            </a:extLst>
          </p:cNvPr>
          <p:cNvSpPr>
            <a:spLocks noGrp="1"/>
          </p:cNvSpPr>
          <p:nvPr/>
        </p:nvSpPr>
        <p:spPr>
          <a:xfrm>
            <a:off x="3148012" y="2002863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17 SEP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E6DEB5-5AE9-4E96-A4C9-031D06113D06}"/>
              </a:ext>
            </a:extLst>
          </p:cNvPr>
          <p:cNvSpPr>
            <a:spLocks noGrp="1"/>
          </p:cNvSpPr>
          <p:nvPr/>
        </p:nvSpPr>
        <p:spPr>
          <a:xfrm>
            <a:off x="2686050" y="2278626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Client meeting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C793A-3F86-47E6-BEBA-5AA263AFD590}"/>
              </a:ext>
            </a:extLst>
          </p:cNvPr>
          <p:cNvSpPr>
            <a:spLocks noGrp="1"/>
          </p:cNvSpPr>
          <p:nvPr/>
        </p:nvSpPr>
        <p:spPr>
          <a:xfrm>
            <a:off x="2481262" y="3196098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17m 29s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Reviewed implementation progress, developer access requirements and remaining OAPA-side dependencies.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55DE4-73BF-4009-890A-F0679F7C8A49}"/>
              </a:ext>
            </a:extLst>
          </p:cNvPr>
          <p:cNvSpPr>
            <a:spLocks noGrp="1"/>
          </p:cNvSpPr>
          <p:nvPr/>
        </p:nvSpPr>
        <p:spPr>
          <a:xfrm>
            <a:off x="5638800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5755B-55E1-413E-ADB9-967DF5AAD1D0}"/>
              </a:ext>
            </a:extLst>
          </p:cNvPr>
          <p:cNvSpPr>
            <a:spLocks noGrp="1"/>
          </p:cNvSpPr>
          <p:nvPr/>
        </p:nvSpPr>
        <p:spPr>
          <a:xfrm>
            <a:off x="5419724" y="2001173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17 SEP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C975DA-1EA2-4517-840D-22B13BF1D02A}"/>
              </a:ext>
            </a:extLst>
          </p:cNvPr>
          <p:cNvSpPr>
            <a:spLocks noGrp="1"/>
          </p:cNvSpPr>
          <p:nvPr/>
        </p:nvSpPr>
        <p:spPr>
          <a:xfrm>
            <a:off x="4814886" y="2278626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Vic  dual-role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16F799-247C-42E1-BFED-B3830B8DAF46}"/>
              </a:ext>
            </a:extLst>
          </p:cNvPr>
          <p:cNvSpPr>
            <a:spLocks noGrp="1"/>
          </p:cNvSpPr>
          <p:nvPr/>
        </p:nvSpPr>
        <p:spPr>
          <a:xfrm>
            <a:off x="4814887" y="3190875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24 min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Weekly session covered both technical-advisor and supervisor review of progress, blockers and next actions.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29F114-3425-4269-A101-22B78E251B60}"/>
              </a:ext>
            </a:extLst>
          </p:cNvPr>
          <p:cNvSpPr>
            <a:spLocks noGrp="1"/>
          </p:cNvSpPr>
          <p:nvPr/>
        </p:nvSpPr>
        <p:spPr>
          <a:xfrm>
            <a:off x="7972425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8B4C0-4686-411A-A4B8-E7F4540AF907}"/>
              </a:ext>
            </a:extLst>
          </p:cNvPr>
          <p:cNvSpPr>
            <a:spLocks noGrp="1"/>
          </p:cNvSpPr>
          <p:nvPr/>
        </p:nvSpPr>
        <p:spPr>
          <a:xfrm>
            <a:off x="7753349" y="1971676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22 SEP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610ECF-4D40-435A-BA9D-E5BCA8FB57A9}"/>
              </a:ext>
            </a:extLst>
          </p:cNvPr>
          <p:cNvSpPr>
            <a:spLocks noGrp="1"/>
          </p:cNvSpPr>
          <p:nvPr/>
        </p:nvSpPr>
        <p:spPr>
          <a:xfrm>
            <a:off x="7334250" y="2238375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Internal team meeting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BC923-1635-41EA-A91B-98396E7F2D8D}"/>
              </a:ext>
            </a:extLst>
          </p:cNvPr>
          <p:cNvSpPr>
            <a:spLocks noGrp="1"/>
          </p:cNvSpPr>
          <p:nvPr/>
        </p:nvSpPr>
        <p:spPr>
          <a:xfrm>
            <a:off x="7188993" y="3190875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1 hour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Aligned BA, UX and Development work, evidence sharing and exact blocker escalation for Week 2.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E1108-2084-4C1C-AE2B-14596C94FCF3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52400" cy="15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05501E-2394-4ED8-BA02-7FD85030595D}"/>
              </a:ext>
            </a:extLst>
          </p:cNvPr>
          <p:cNvSpPr>
            <a:spLocks noGrp="1"/>
          </p:cNvSpPr>
          <p:nvPr/>
        </p:nvSpPr>
        <p:spPr>
          <a:xfrm>
            <a:off x="10148887" y="1988423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24 SEP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3E4B9-8BCF-464A-AEEA-1249BA009E39}"/>
              </a:ext>
            </a:extLst>
          </p:cNvPr>
          <p:cNvSpPr>
            <a:spLocks noGrp="1"/>
          </p:cNvSpPr>
          <p:nvPr/>
        </p:nvSpPr>
        <p:spPr>
          <a:xfrm>
            <a:off x="9563099" y="2278626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Georgia"/>
              </a:rPr>
              <a:t>Client build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DAFC2-0350-45B1-BD7F-A10A859CA218}"/>
              </a:ext>
            </a:extLst>
          </p:cNvPr>
          <p:cNvSpPr>
            <a:spLocks noGrp="1"/>
          </p:cNvSpPr>
          <p:nvPr/>
        </p:nvSpPr>
        <p:spPr>
          <a:xfrm>
            <a:off x="9644062" y="3196098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20 min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Confirmed Teams workshops, 2-of-3 eligibility, flexible progression and the soft-to-final assessment flow.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ABAF75-950A-4244-8F09-DC499128250E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10668000" cy="1614943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04D76B-B9AD-4525-9E6A-BEEB6936BECD}"/>
              </a:ext>
            </a:extLst>
          </p:cNvPr>
          <p:cNvSpPr>
            <a:spLocks noGrp="1"/>
          </p:cNvSpPr>
          <p:nvPr/>
        </p:nvSpPr>
        <p:spPr>
          <a:xfrm>
            <a:off x="752475" y="485775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ADVISOR COVERAGE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7EFB0C-29E4-4258-9799-FC32AF04B112}"/>
              </a:ext>
            </a:extLst>
          </p:cNvPr>
          <p:cNvSpPr>
            <a:spLocks noGrp="1"/>
          </p:cNvSpPr>
          <p:nvPr/>
        </p:nvSpPr>
        <p:spPr>
          <a:xfrm>
            <a:off x="752475" y="5191125"/>
            <a:ext cx="723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Georgia"/>
              </a:rPr>
              <a:t>Vic is both Team 74’s supervisor and technical advisor, so the weekly Vic sessions covered both roles. On 24 Sep no session was required because no technical/supervisor questions were open, and the PM informed Vic. On 2 Sep the PM emailed non-technical advisor Leon that no non-technical blockers had arisen and asked whether a session was still needed.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1C5B1A-DA02-47AB-BA4E-D59A22BD561D}"/>
              </a:ext>
            </a:extLst>
          </p:cNvPr>
          <p:cNvSpPr>
            <a:spLocks noGrp="1"/>
          </p:cNvSpPr>
          <p:nvPr/>
        </p:nvSpPr>
        <p:spPr>
          <a:xfrm>
            <a:off x="8715374" y="4857750"/>
            <a:ext cx="174307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SUPPORTING COMMS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5C1B45-6495-44F7-AB98-F3E07F067BA7}"/>
              </a:ext>
            </a:extLst>
          </p:cNvPr>
          <p:cNvSpPr>
            <a:spLocks noGrp="1"/>
          </p:cNvSpPr>
          <p:nvPr/>
        </p:nvSpPr>
        <p:spPr>
          <a:xfrm>
            <a:off x="8715375" y="51816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16 SEP / Sam created Team 74 dev course</a:t>
            </a:r>
          </a:p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23–25 SEP / H5P, attendance + branding follow-ups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B5680-F2AF-4BDA-B946-5312B6D983C0}"/>
              </a:ext>
            </a:extLst>
          </p:cNvPr>
          <p:cNvSpPr>
            <a:spLocks noGrp="1"/>
          </p:cNvSpPr>
          <p:nvPr/>
        </p:nvSpPr>
        <p:spPr>
          <a:xfrm>
            <a:off x="520802" y="6643227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 i="0" dirty="0">
                <a:solidFill>
                  <a:srgbClr val="000000"/>
                </a:solidFill>
                <a:latin typeface="Arial"/>
              </a:rPr>
              <a:t>07A / SPRINT 2 TIMELINE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63099" y="6460147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86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187"/>
    </mc:Choice>
    <mc:Fallback>
      <p:transition spd="slow" advTm="6118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E90F742-DFED-484B-B889-918399D9115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07B / CLOSEOUT &amp;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FBD18-9345-48C3-AEAE-62235CE3FB53}"/>
              </a:ext>
            </a:extLst>
          </p:cNvPr>
          <p:cNvSpPr>
            <a:spLocks noGrp="1"/>
          </p:cNvSpPr>
          <p:nvPr/>
        </p:nvSpPr>
        <p:spPr>
          <a:xfrm>
            <a:off x="552450" y="6667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106"/>
          </a:bodyPr>
          <a:lstStyle/>
          <a:p>
            <a:pPr algn="l"/>
            <a:r>
              <a:rPr sz="3100" b="0" i="0">
                <a:solidFill>
                  <a:srgbClr val="000000"/>
                </a:solidFill>
                <a:latin typeface="Georgia"/>
              </a:rPr>
              <a:t>Sprint 2 closeout meetings and the Sprint 3 commitment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E65F67C-1DCD-4D5E-A4BC-D1E16D4550DE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0287000" cy="0"/>
          </a:xfrm>
          <a:prstGeom prst="line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1C3562-5E14-4C0F-BE36-955A8765C0FE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BD7D5-3F5B-4EA4-8005-492DFE017BCB}"/>
              </a:ext>
            </a:extLst>
          </p:cNvPr>
          <p:cNvSpPr>
            <a:spLocks noGrp="1"/>
          </p:cNvSpPr>
          <p:nvPr/>
        </p:nvSpPr>
        <p:spPr>
          <a:xfrm>
            <a:off x="876300" y="1963686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01 OCT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E986C8-88C8-4A1F-BE61-66360BE11D62}"/>
              </a:ext>
            </a:extLst>
          </p:cNvPr>
          <p:cNvSpPr>
            <a:spLocks noGrp="1"/>
          </p:cNvSpPr>
          <p:nvPr/>
        </p:nvSpPr>
        <p:spPr>
          <a:xfrm>
            <a:off x="633412" y="22204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Client closeout meeting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AFBA2-79E2-48FA-8E2D-2CFA3CE3C18D}"/>
              </a:ext>
            </a:extLst>
          </p:cNvPr>
          <p:cNvSpPr>
            <a:spLocks noGrp="1"/>
          </p:cNvSpPr>
          <p:nvPr/>
        </p:nvSpPr>
        <p:spPr>
          <a:xfrm>
            <a:off x="457200" y="3209925"/>
            <a:ext cx="180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1h 09m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Reviewed development evidence, remaining implementation, access constraints and the isolated-copy route.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853EC-D57A-4BBD-97CB-2EC7B9153988}"/>
              </a:ext>
            </a:extLst>
          </p:cNvPr>
          <p:cNvSpPr>
            <a:spLocks noGrp="1"/>
          </p:cNvSpPr>
          <p:nvPr/>
        </p:nvSpPr>
        <p:spPr>
          <a:xfrm>
            <a:off x="3305175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F2AF7-79B2-4FFC-B68D-ACB97DAC104E}"/>
              </a:ext>
            </a:extLst>
          </p:cNvPr>
          <p:cNvSpPr>
            <a:spLocks noGrp="1"/>
          </p:cNvSpPr>
          <p:nvPr/>
        </p:nvSpPr>
        <p:spPr>
          <a:xfrm>
            <a:off x="3067050" y="1961535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01 OCT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E6DEB5-5AE9-4E96-A4C9-031D06113D06}"/>
              </a:ext>
            </a:extLst>
          </p:cNvPr>
          <p:cNvSpPr>
            <a:spLocks noGrp="1"/>
          </p:cNvSpPr>
          <p:nvPr/>
        </p:nvSpPr>
        <p:spPr>
          <a:xfrm>
            <a:off x="2443162" y="2257425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Vic </a:t>
            </a:r>
            <a:r>
              <a:rPr lang="en-AU" sz="1600" dirty="0">
                <a:solidFill>
                  <a:srgbClr val="000000"/>
                </a:solidFill>
                <a:latin typeface="Georgia"/>
              </a:rPr>
              <a:t>- </a:t>
            </a:r>
            <a:r>
              <a:rPr sz="1600" b="0" i="0" dirty="0">
                <a:solidFill>
                  <a:srgbClr val="000000"/>
                </a:solidFill>
                <a:latin typeface="Georgia"/>
              </a:rPr>
              <a:t>dual-role review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C793A-3F86-47E6-BEBA-5AA263AFD590}"/>
              </a:ext>
            </a:extLst>
          </p:cNvPr>
          <p:cNvSpPr>
            <a:spLocks noGrp="1"/>
          </p:cNvSpPr>
          <p:nvPr/>
        </p:nvSpPr>
        <p:spPr>
          <a:xfrm>
            <a:off x="2481262" y="3209925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30 min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Supervisor + technical-advisor session reviewed Sprint 2 closeout, blockers and the Sprint 3 direction.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55DE4-73BF-4009-890A-F0679F7C8A49}"/>
              </a:ext>
            </a:extLst>
          </p:cNvPr>
          <p:cNvSpPr>
            <a:spLocks noGrp="1"/>
          </p:cNvSpPr>
          <p:nvPr/>
        </p:nvSpPr>
        <p:spPr>
          <a:xfrm>
            <a:off x="5638800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5755B-55E1-413E-ADB9-967DF5AAD1D0}"/>
              </a:ext>
            </a:extLst>
          </p:cNvPr>
          <p:cNvSpPr>
            <a:spLocks noGrp="1"/>
          </p:cNvSpPr>
          <p:nvPr/>
        </p:nvSpPr>
        <p:spPr>
          <a:xfrm>
            <a:off x="5400675" y="1961535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02 OCT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C975DA-1EA2-4517-840D-22B13BF1D02A}"/>
              </a:ext>
            </a:extLst>
          </p:cNvPr>
          <p:cNvSpPr>
            <a:spLocks noGrp="1"/>
          </p:cNvSpPr>
          <p:nvPr/>
        </p:nvSpPr>
        <p:spPr>
          <a:xfrm>
            <a:off x="4738687" y="2247899"/>
            <a:ext cx="207522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Internal team meeting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16F799-247C-42E1-BFED-B3830B8DAF46}"/>
              </a:ext>
            </a:extLst>
          </p:cNvPr>
          <p:cNvSpPr>
            <a:spLocks noGrp="1"/>
          </p:cNvSpPr>
          <p:nvPr/>
        </p:nvSpPr>
        <p:spPr>
          <a:xfrm>
            <a:off x="4738687" y="3209925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42 min </a:t>
            </a:r>
            <a:r>
              <a:rPr lang="en-AU" sz="1200" b="0" i="0" dirty="0">
                <a:solidFill>
                  <a:srgbClr val="000000"/>
                </a:solidFill>
                <a:latin typeface="Arial"/>
              </a:rPr>
              <a:t>-</a:t>
            </a:r>
            <a:r>
              <a:rPr sz="1200" b="0" i="0" dirty="0">
                <a:solidFill>
                  <a:srgbClr val="000000"/>
                </a:solidFill>
                <a:latin typeface="Arial"/>
              </a:rPr>
              <a:t> Reconciled the specification, workshop integration, access needs, role boundaries and Sprint 3 plan.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29F114-3425-4269-A101-22B78E251B60}"/>
              </a:ext>
            </a:extLst>
          </p:cNvPr>
          <p:cNvSpPr>
            <a:spLocks noGrp="1"/>
          </p:cNvSpPr>
          <p:nvPr/>
        </p:nvSpPr>
        <p:spPr>
          <a:xfrm>
            <a:off x="7972425" y="2876550"/>
            <a:ext cx="152400" cy="152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8B4C0-4686-411A-A4B8-E7F4540AF907}"/>
              </a:ext>
            </a:extLst>
          </p:cNvPr>
          <p:cNvSpPr>
            <a:spLocks noGrp="1"/>
          </p:cNvSpPr>
          <p:nvPr/>
        </p:nvSpPr>
        <p:spPr>
          <a:xfrm>
            <a:off x="7734300" y="1961535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03 OCT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610ECF-4D40-435A-BA9D-E5BCA8FB57A9}"/>
              </a:ext>
            </a:extLst>
          </p:cNvPr>
          <p:cNvSpPr>
            <a:spLocks noGrp="1"/>
          </p:cNvSpPr>
          <p:nvPr/>
        </p:nvSpPr>
        <p:spPr>
          <a:xfrm>
            <a:off x="7229475" y="2238375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Access-copy follow-up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BC923-1635-41EA-A91B-98396E7F2D8D}"/>
              </a:ext>
            </a:extLst>
          </p:cNvPr>
          <p:cNvSpPr>
            <a:spLocks noGrp="1"/>
          </p:cNvSpPr>
          <p:nvPr/>
        </p:nvSpPr>
        <p:spPr>
          <a:xfrm>
            <a:off x="7150893" y="3201015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Client-supported route: request an isolated Academy copy with the site-level capability needed for blocked work.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E1108-2084-4C1C-AE2B-14596C94FCF3}"/>
              </a:ext>
            </a:extLst>
          </p:cNvPr>
          <p:cNvSpPr>
            <a:spLocks noGrp="1"/>
          </p:cNvSpPr>
          <p:nvPr/>
        </p:nvSpPr>
        <p:spPr>
          <a:xfrm>
            <a:off x="10306050" y="2876550"/>
            <a:ext cx="152400" cy="15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05501E-2394-4ED8-BA02-7FD85030595D}"/>
              </a:ext>
            </a:extLst>
          </p:cNvPr>
          <p:cNvSpPr>
            <a:spLocks noGrp="1"/>
          </p:cNvSpPr>
          <p:nvPr/>
        </p:nvSpPr>
        <p:spPr>
          <a:xfrm>
            <a:off x="9977437" y="1961535"/>
            <a:ext cx="19526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MONDAY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3E4B9-8BCF-464A-AEEA-1249BA009E39}"/>
              </a:ext>
            </a:extLst>
          </p:cNvPr>
          <p:cNvSpPr>
            <a:spLocks noGrp="1"/>
          </p:cNvSpPr>
          <p:nvPr/>
        </p:nvSpPr>
        <p:spPr>
          <a:xfrm>
            <a:off x="9482137" y="2238375"/>
            <a:ext cx="1952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Georgia"/>
              </a:rPr>
              <a:t>Expected access step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DAFC2-0350-45B1-BD7F-A10A859CA218}"/>
              </a:ext>
            </a:extLst>
          </p:cNvPr>
          <p:cNvSpPr>
            <a:spLocks noGrp="1"/>
          </p:cNvSpPr>
          <p:nvPr/>
        </p:nvSpPr>
        <p:spPr>
          <a:xfrm>
            <a:off x="9563099" y="3189953"/>
            <a:ext cx="195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Arial"/>
              </a:rPr>
              <a:t>Receive the isolated Academy copy / required permissions, then complete the remaining site-level implementation.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ABAF75-950A-4244-8F09-DC499128250E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10668000" cy="13049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04D76B-B9AD-4525-9E6A-BEEB6936BECD}"/>
              </a:ext>
            </a:extLst>
          </p:cNvPr>
          <p:cNvSpPr>
            <a:spLocks noGrp="1"/>
          </p:cNvSpPr>
          <p:nvPr/>
        </p:nvSpPr>
        <p:spPr>
          <a:xfrm>
            <a:off x="752475" y="4857750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rial"/>
              </a:rPr>
              <a:t>SPRINT 3 / REFINE MVP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7EFB0C-29E4-4258-9799-FC32AF04B112}"/>
              </a:ext>
            </a:extLst>
          </p:cNvPr>
          <p:cNvSpPr>
            <a:spLocks noGrp="1"/>
          </p:cNvSpPr>
          <p:nvPr/>
        </p:nvSpPr>
        <p:spPr>
          <a:xfrm>
            <a:off x="752475" y="5191125"/>
            <a:ext cx="723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968"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>Finish the live workshop + verified-attendance path into Month 4 assessment eligibility, implement OAPA branding/fonts, and finalise navigation and accessibility. Then regression-test, document the reuse/admin handoff and complete final OAPA handover.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1C5B1A-DA02-47AB-BA4E-D59A22BD561D}"/>
              </a:ext>
            </a:extLst>
          </p:cNvPr>
          <p:cNvSpPr>
            <a:spLocks noGrp="1"/>
          </p:cNvSpPr>
          <p:nvPr/>
        </p:nvSpPr>
        <p:spPr>
          <a:xfrm>
            <a:off x="8715375" y="48577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STARTING POSITION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5C1B45-6495-44F7-AB98-F3E07F067BA7}"/>
              </a:ext>
            </a:extLst>
          </p:cNvPr>
          <p:cNvSpPr>
            <a:spLocks noGrp="1"/>
          </p:cNvSpPr>
          <p:nvPr/>
        </p:nvSpPr>
        <p:spPr>
          <a:xfrm>
            <a:off x="8715375" y="51816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all non-access-blocked Sprint 2 work complete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isolated copy + site-level capability expected Monday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B5680-F2AF-4BDA-B946-5312B6D983C0}"/>
              </a:ext>
            </a:extLst>
          </p:cNvPr>
          <p:cNvSpPr>
            <a:spLocks noGrp="1"/>
          </p:cNvSpPr>
          <p:nvPr/>
        </p:nvSpPr>
        <p:spPr>
          <a:xfrm>
            <a:off x="552450" y="6400800"/>
            <a:ext cx="342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07B / CLOSEOUT &amp; NEXT STEPS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478"/>
    </mc:Choice>
    <mc:Fallback>
      <p:transition spd="slow" advTm="614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ACEA0-712D-43CE-09CB-C9DF669A1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94C5EBDB-A30D-C599-91E7-ADF46B7F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66" y="424813"/>
            <a:ext cx="10796752" cy="999808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rgbClr val="000000"/>
                </a:solidFill>
                <a:latin typeface="Georgia"/>
              </a:rPr>
              <a:t>Business Analysis </a:t>
            </a:r>
            <a:r>
              <a:rPr lang="en-GB" sz="3600" dirty="0">
                <a:solidFill>
                  <a:srgbClr val="000000"/>
                </a:solidFill>
                <a:latin typeface="Georgia"/>
              </a:rPr>
              <a:t>–</a:t>
            </a:r>
            <a:r>
              <a:rPr lang="en-GB" sz="3600" b="1" dirty="0">
                <a:solidFill>
                  <a:srgbClr val="000000"/>
                </a:solidFill>
                <a:latin typeface="Georgia"/>
              </a:rPr>
              <a:t> </a:t>
            </a:r>
            <a:r>
              <a:rPr lang="en-GB" sz="3600" dirty="0">
                <a:solidFill>
                  <a:srgbClr val="000000"/>
                </a:solidFill>
                <a:latin typeface="Georgia"/>
              </a:rPr>
              <a:t>Acceptance Review and Handover</a:t>
            </a:r>
            <a:br>
              <a:rPr lang="en-GB" sz="3600" dirty="0">
                <a:solidFill>
                  <a:srgbClr val="000000"/>
                </a:solidFill>
                <a:latin typeface="Georgia"/>
              </a:rPr>
            </a:br>
            <a:endParaRPr lang="en-US" sz="3600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AF92406-6910-B440-741A-7413FF6D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76" y="1605554"/>
            <a:ext cx="6262052" cy="513715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Georgia"/>
              </a:rPr>
              <a:t>Contributions </a:t>
            </a:r>
            <a:endParaRPr lang="en-US" sz="2800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51EC22E0-AE30-C8D1-1016-943D5DFCF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9402" y="1605554"/>
            <a:ext cx="4260380" cy="513716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Georgia"/>
              </a:rPr>
              <a:t>Primary Blocker</a:t>
            </a:r>
            <a:endParaRPr lang="en-US" sz="2800" dirty="0"/>
          </a:p>
        </p:txBody>
      </p:sp>
      <p:sp>
        <p:nvSpPr>
          <p:cNvPr id="51" name="Content Placeholder 5">
            <a:extLst>
              <a:ext uri="{FF2B5EF4-FFF2-40B4-BE49-F238E27FC236}">
                <a16:creationId xmlns:a16="http://schemas.microsoft.com/office/drawing/2014/main" id="{4C51DFBD-1317-3BD8-C418-36021EA13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39402" y="2166564"/>
            <a:ext cx="4738601" cy="4075527"/>
          </a:xfrm>
        </p:spPr>
        <p:txBody>
          <a:bodyPr lIns="91440" tIns="45720" rIns="91440" bIns="45720" anchor="t"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latin typeface="Arial"/>
                <a:cs typeface="Arial"/>
              </a:rPr>
              <a:t>Existing test accounts already had passing scores</a:t>
            </a:r>
            <a:endParaRPr lang="en-US" sz="2200" b="1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0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This prevented the team from proving the module gates blocked fresh learner</a:t>
            </a:r>
          </a:p>
          <a:p>
            <a:pPr marL="0" indent="0">
              <a:buNone/>
            </a:pPr>
            <a:endParaRPr lang="en-US" sz="1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I kept those checks partially validated and identified fresh learner tests for follow-up</a:t>
            </a: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FB077D4A-7804-5F0E-C580-5E8F32B743A1}"/>
              </a:ext>
            </a:extLst>
          </p:cNvPr>
          <p:cNvSpPr/>
          <p:nvPr/>
        </p:nvSpPr>
        <p:spPr>
          <a:xfrm>
            <a:off x="1247027" y="4031576"/>
            <a:ext cx="191506" cy="658883"/>
          </a:xfrm>
          <a:prstGeom prst="downArrow">
            <a:avLst>
              <a:gd name="adj1" fmla="val 48319"/>
              <a:gd name="adj2" fmla="val 8820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45BA59-CB35-2816-1F02-84332738112C}"/>
              </a:ext>
            </a:extLst>
          </p:cNvPr>
          <p:cNvCxnSpPr>
            <a:cxnSpLocks/>
          </p:cNvCxnSpPr>
          <p:nvPr/>
        </p:nvCxnSpPr>
        <p:spPr>
          <a:xfrm>
            <a:off x="6884275" y="1723697"/>
            <a:ext cx="0" cy="4502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C0E5468-86FF-B44D-88FF-685B965B5C83}"/>
              </a:ext>
            </a:extLst>
          </p:cNvPr>
          <p:cNvCxnSpPr>
            <a:cxnSpLocks/>
          </p:cNvCxnSpPr>
          <p:nvPr/>
        </p:nvCxnSpPr>
        <p:spPr>
          <a:xfrm>
            <a:off x="642991" y="1096071"/>
            <a:ext cx="105211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6D31884F-97E8-3D85-E098-4550758C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6291072"/>
            <a:ext cx="2057400" cy="343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E1FE53-D01A-4F57-025C-2A9E762C851E}"/>
              </a:ext>
            </a:extLst>
          </p:cNvPr>
          <p:cNvSpPr txBox="1"/>
          <p:nvPr/>
        </p:nvSpPr>
        <p:spPr>
          <a:xfrm>
            <a:off x="143822" y="2155009"/>
            <a:ext cx="774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3437B-D0D5-14A9-B0EC-B7C42057FFD1}"/>
              </a:ext>
            </a:extLst>
          </p:cNvPr>
          <p:cNvSpPr txBox="1"/>
          <p:nvPr/>
        </p:nvSpPr>
        <p:spPr>
          <a:xfrm>
            <a:off x="131122" y="3655993"/>
            <a:ext cx="774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2B2DD-5F13-0CFD-697C-7D08BB4DFA98}"/>
              </a:ext>
            </a:extLst>
          </p:cNvPr>
          <p:cNvSpPr txBox="1"/>
          <p:nvPr/>
        </p:nvSpPr>
        <p:spPr>
          <a:xfrm>
            <a:off x="143822" y="4986248"/>
            <a:ext cx="774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F7883-0463-C172-4D02-DB24DC1DB029}"/>
              </a:ext>
            </a:extLst>
          </p:cNvPr>
          <p:cNvSpPr txBox="1"/>
          <p:nvPr/>
        </p:nvSpPr>
        <p:spPr>
          <a:xfrm>
            <a:off x="918520" y="2296763"/>
            <a:ext cx="5083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Georgia" panose="02040502050405020303" pitchFamily="18" charset="0"/>
              </a:rPr>
              <a:t>Requirements and workflow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52D21-BBAC-F3A9-7077-70224F12E723}"/>
              </a:ext>
            </a:extLst>
          </p:cNvPr>
          <p:cNvSpPr txBox="1"/>
          <p:nvPr/>
        </p:nvSpPr>
        <p:spPr>
          <a:xfrm>
            <a:off x="910463" y="2782284"/>
            <a:ext cx="57186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Defined progression, attendance eligibility and both assessment routes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75A64-6BF5-5B12-39BE-A1ED3830D651}"/>
              </a:ext>
            </a:extLst>
          </p:cNvPr>
          <p:cNvSpPr txBox="1"/>
          <p:nvPr/>
        </p:nvSpPr>
        <p:spPr>
          <a:xfrm>
            <a:off x="918520" y="3789877"/>
            <a:ext cx="5083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Georgia" panose="02040502050405020303" pitchFamily="18" charset="0"/>
              </a:rPr>
              <a:t>Final acceptance review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C3BACF-D82B-21AF-9EB6-F651A50F8BBA}"/>
              </a:ext>
            </a:extLst>
          </p:cNvPr>
          <p:cNvSpPr txBox="1"/>
          <p:nvPr/>
        </p:nvSpPr>
        <p:spPr>
          <a:xfrm>
            <a:off x="905820" y="4235863"/>
            <a:ext cx="5723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Reviewed team evidence against 16 criteria and recorded validation gaps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2A4C8-957B-8CBC-4A0F-D95974507753}"/>
              </a:ext>
            </a:extLst>
          </p:cNvPr>
          <p:cNvSpPr txBox="1"/>
          <p:nvPr/>
        </p:nvSpPr>
        <p:spPr>
          <a:xfrm>
            <a:off x="905820" y="5146380"/>
            <a:ext cx="5083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Georgia" panose="02040502050405020303" pitchFamily="18" charset="0"/>
              </a:rPr>
              <a:t>Sprint 3 priorities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19223-08DD-FE22-18B5-CF33F048B17D}"/>
              </a:ext>
            </a:extLst>
          </p:cNvPr>
          <p:cNvSpPr txBox="1"/>
          <p:nvPr/>
        </p:nvSpPr>
        <p:spPr>
          <a:xfrm>
            <a:off x="893120" y="5592366"/>
            <a:ext cx="57879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Prioritised</a:t>
            </a:r>
            <a:r>
              <a:rPr lang="en-US" sz="2200" dirty="0"/>
              <a:t> 18 gaps with owners and outcomes, while preserving  Core MVP scope.</a:t>
            </a:r>
          </a:p>
        </p:txBody>
      </p:sp>
    </p:spTree>
    <p:extLst>
      <p:ext uri="{BB962C8B-B14F-4D97-AF65-F5344CB8AC3E}">
        <p14:creationId xmlns:p14="http://schemas.microsoft.com/office/powerpoint/2010/main" val="110342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05"/>
    </mc:Choice>
    <mc:Fallback xmlns="">
      <p:transition spd="slow" advTm="3710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9269-B688-52FB-6F88-EA2E0A762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421" y="689913"/>
            <a:ext cx="7163157" cy="723445"/>
          </a:xfrm>
        </p:spPr>
        <p:txBody>
          <a:bodyPr/>
          <a:lstStyle/>
          <a:p>
            <a:r>
              <a:rPr lang="en-AU">
                <a:latin typeface="Cambria "/>
              </a:rPr>
              <a:t>UX Design – OAPA Academy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D8674-7665-5BA8-EA3E-899B39D18AD8}"/>
              </a:ext>
            </a:extLst>
          </p:cNvPr>
          <p:cNvSpPr/>
          <p:nvPr/>
        </p:nvSpPr>
        <p:spPr>
          <a:xfrm>
            <a:off x="0" y="0"/>
            <a:ext cx="2128603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EE6414-3038-4CB2-EF31-75E1C6E9C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45" y="2495238"/>
            <a:ext cx="1867525" cy="1867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89D8F0-6F8A-C063-CA80-BED7B7534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95238"/>
            <a:ext cx="1867526" cy="18675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7A09F7-410D-4DD6-1E2F-0663DFBF2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868" y="2692183"/>
            <a:ext cx="1473631" cy="14736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4A29EC-5EF2-27B5-85D7-C08C8897CF45}"/>
              </a:ext>
            </a:extLst>
          </p:cNvPr>
          <p:cNvSpPr txBox="1"/>
          <p:nvPr/>
        </p:nvSpPr>
        <p:spPr>
          <a:xfrm>
            <a:off x="2852345" y="4694216"/>
            <a:ext cx="222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>
                <a:latin typeface="Cambria "/>
              </a:rPr>
              <a:t>OAPA branding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43A9F-09F4-EDE1-B3CF-0232D0C19D76}"/>
              </a:ext>
            </a:extLst>
          </p:cNvPr>
          <p:cNvSpPr txBox="1"/>
          <p:nvPr/>
        </p:nvSpPr>
        <p:spPr>
          <a:xfrm>
            <a:off x="5725066" y="4613641"/>
            <a:ext cx="2609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>
                <a:latin typeface="Cambria "/>
              </a:rPr>
              <a:t>Navigation and Course structure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F5C65-5546-44E9-C316-02AF382256A6}"/>
              </a:ext>
            </a:extLst>
          </p:cNvPr>
          <p:cNvSpPr txBox="1"/>
          <p:nvPr/>
        </p:nvSpPr>
        <p:spPr>
          <a:xfrm>
            <a:off x="8775987" y="4613642"/>
            <a:ext cx="2609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>
                <a:latin typeface="Cambria "/>
              </a:rPr>
              <a:t>Mock-up solutions for the problems</a:t>
            </a:r>
          </a:p>
        </p:txBody>
      </p:sp>
    </p:spTree>
    <p:extLst>
      <p:ext uri="{BB962C8B-B14F-4D97-AF65-F5344CB8AC3E}">
        <p14:creationId xmlns:p14="http://schemas.microsoft.com/office/powerpoint/2010/main" val="255991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7"/>
    </mc:Choice>
    <mc:Fallback xmlns="">
      <p:transition spd="slow" advTm="136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3A7A-8D6F-44EB-9CED-E5025174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C8364F-9551-5984-92BB-A988A82F02EA}"/>
              </a:ext>
            </a:extLst>
          </p:cNvPr>
          <p:cNvSpPr/>
          <p:nvPr/>
        </p:nvSpPr>
        <p:spPr>
          <a:xfrm>
            <a:off x="7540052" y="0"/>
            <a:ext cx="4651948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highlight>
                <a:srgbClr val="FFFF0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F82EF-A1C7-AA12-5A08-9348E2FB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mbria "/>
              </a:rPr>
              <a:t>  </a:t>
            </a:r>
            <a:br>
              <a:rPr lang="en-AU" dirty="0">
                <a:latin typeface="Cambria "/>
              </a:rPr>
            </a:br>
            <a:br>
              <a:rPr lang="en-AU" dirty="0">
                <a:latin typeface="Cambria "/>
              </a:rPr>
            </a:br>
            <a:r>
              <a:rPr lang="en-AU" dirty="0">
                <a:latin typeface="Cambria "/>
              </a:rPr>
              <a:t>           OAPA Landing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BDEB2E-32BD-BB36-49BA-266F0F63F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420" y="2338466"/>
            <a:ext cx="5410184" cy="23562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F940AE-23CC-5DCF-800F-FC77F9BA1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187" y="1260613"/>
            <a:ext cx="3665677" cy="159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695F4D-6DAF-0E89-40A4-5F65178CB968}"/>
              </a:ext>
            </a:extLst>
          </p:cNvPr>
          <p:cNvSpPr txBox="1"/>
          <p:nvPr/>
        </p:nvSpPr>
        <p:spPr>
          <a:xfrm>
            <a:off x="2547712" y="4995334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The landing page mock-up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2E688-9B83-82B9-9E89-9AFF1951699B}"/>
              </a:ext>
            </a:extLst>
          </p:cNvPr>
          <p:cNvSpPr txBox="1"/>
          <p:nvPr/>
        </p:nvSpPr>
        <p:spPr>
          <a:xfrm>
            <a:off x="8185197" y="5834334"/>
            <a:ext cx="351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The landing page in the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C42CE-98C5-DC0F-000D-B0DCFE2CC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187" y="3589601"/>
            <a:ext cx="3686922" cy="1590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566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27"/>
    </mc:Choice>
    <mc:Fallback xmlns="">
      <p:transition spd="slow" advTm="1972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CBFC-5DB8-868A-0B72-CD44F6CD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      </a:t>
            </a:r>
            <a:br>
              <a:rPr lang="en-AU" b="1" dirty="0"/>
            </a:br>
            <a:r>
              <a:rPr lang="en-AU" b="1" dirty="0"/>
              <a:t>      The Participants Tab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57B0D-A577-A0B1-866B-E3A392AF4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51218"/>
            <a:ext cx="4783112" cy="1818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1808E7-80E8-49A1-74D5-026297040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61" y="4229890"/>
            <a:ext cx="8839654" cy="1886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D0D9CB-3DC8-FA08-8089-6F3EF013426D}"/>
              </a:ext>
            </a:extLst>
          </p:cNvPr>
          <p:cNvSpPr txBox="1"/>
          <p:nvPr/>
        </p:nvSpPr>
        <p:spPr>
          <a:xfrm>
            <a:off x="6096000" y="1404887"/>
            <a:ext cx="32990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>
                <a:latin typeface="Cambria "/>
              </a:rPr>
              <a:t> </a:t>
            </a:r>
            <a:br>
              <a:rPr lang="en-AU">
                <a:latin typeface="Cambria "/>
              </a:rPr>
            </a:br>
            <a:endParaRPr lang="en-AU">
              <a:latin typeface="Cambria "/>
            </a:endParaRPr>
          </a:p>
        </p:txBody>
      </p:sp>
    </p:spTree>
    <p:extLst>
      <p:ext uri="{BB962C8B-B14F-4D97-AF65-F5344CB8AC3E}">
        <p14:creationId xmlns:p14="http://schemas.microsoft.com/office/powerpoint/2010/main" val="32489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32"/>
    </mc:Choice>
    <mc:Fallback xmlns="">
      <p:transition spd="slow" advTm="1233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0C11-89F8-A662-D1AC-D7DB97B4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        </a:t>
            </a:r>
            <a:br>
              <a:rPr lang="en-AU" b="1" dirty="0"/>
            </a:br>
            <a:r>
              <a:rPr lang="en-AU" b="1" dirty="0"/>
              <a:t>            The Participants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5A24D-7A75-C10A-F5EF-7B6BD1EA9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473" y="1690688"/>
            <a:ext cx="4468755" cy="459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EC7F1-3D00-DCBB-FEC9-C1648976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74" y="1690688"/>
            <a:ext cx="4379273" cy="45906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53672A-09B7-D1BE-F9AA-F54EFB741BF2}"/>
              </a:ext>
            </a:extLst>
          </p:cNvPr>
          <p:cNvSpPr txBox="1"/>
          <p:nvPr/>
        </p:nvSpPr>
        <p:spPr>
          <a:xfrm>
            <a:off x="2218543" y="6354216"/>
            <a:ext cx="2638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The user perspective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62B1A-4469-9150-4D09-BE9BDF9B83AD}"/>
              </a:ext>
            </a:extLst>
          </p:cNvPr>
          <p:cNvSpPr txBox="1"/>
          <p:nvPr/>
        </p:nvSpPr>
        <p:spPr>
          <a:xfrm>
            <a:off x="7633475" y="6354216"/>
            <a:ext cx="329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The facilitator perspective</a:t>
            </a:r>
          </a:p>
        </p:txBody>
      </p:sp>
    </p:spTree>
    <p:extLst>
      <p:ext uri="{BB962C8B-B14F-4D97-AF65-F5344CB8AC3E}">
        <p14:creationId xmlns:p14="http://schemas.microsoft.com/office/powerpoint/2010/main" val="311345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91"/>
    </mc:Choice>
    <mc:Fallback xmlns="">
      <p:transition spd="slow" advTm="2019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EB37-ECF6-9BBA-375C-45CF5F5F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AU" dirty="0">
                <a:latin typeface="Cambria "/>
              </a:rPr>
            </a:br>
            <a:br>
              <a:rPr lang="en-AU" dirty="0">
                <a:latin typeface="Cambria "/>
              </a:rPr>
            </a:br>
            <a:r>
              <a:rPr lang="en-AU" dirty="0">
                <a:latin typeface="Cambria "/>
              </a:rPr>
              <a:t>     UX Sprint 2 blockers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0221-12E6-01F5-8E36-9D725F91E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latin typeface="Cambria "/>
            </a:endParaRPr>
          </a:p>
          <a:p>
            <a:endParaRPr lang="en-AU" dirty="0">
              <a:latin typeface="Cambria "/>
            </a:endParaRPr>
          </a:p>
          <a:p>
            <a:endParaRPr lang="en-AU" dirty="0">
              <a:latin typeface="Cambria "/>
            </a:endParaRPr>
          </a:p>
          <a:p>
            <a:endParaRPr lang="en-AU" dirty="0">
              <a:latin typeface="Cambria "/>
            </a:endParaRPr>
          </a:p>
          <a:p>
            <a:pPr marL="0" indent="0">
              <a:buNone/>
            </a:pPr>
            <a:endParaRPr lang="en-AU" dirty="0">
              <a:latin typeface="Cambria 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D50221-12E6-01F5-8E36-9D725F91E2C6}"/>
              </a:ext>
            </a:extLst>
          </p:cNvPr>
          <p:cNvSpPr>
            <a:spLocks noGrp="1"/>
          </p:cNvSpPr>
          <p:nvPr/>
        </p:nvSpPr>
        <p:spPr>
          <a:xfrm>
            <a:off x="553064" y="21087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latin typeface="Cambria "/>
              </a:rPr>
              <a:t>The feasibility misalignment</a:t>
            </a:r>
          </a:p>
        </p:txBody>
      </p:sp>
    </p:spTree>
    <p:extLst>
      <p:ext uri="{BB962C8B-B14F-4D97-AF65-F5344CB8AC3E}">
        <p14:creationId xmlns:p14="http://schemas.microsoft.com/office/powerpoint/2010/main" val="122341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56"/>
    </mc:Choice>
    <mc:Fallback xmlns="">
      <p:transition spd="slow" advTm="1435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135934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606060"/>
                </a:solidFill>
                <a:latin typeface="Arial"/>
              </a:rPr>
              <a:t> DEVELOPER 1</a:t>
            </a:r>
            <a:r>
              <a:rPr lang="en-GB" sz="900" b="1" dirty="0">
                <a:solidFill>
                  <a:srgbClr val="606060"/>
                </a:solidFill>
                <a:latin typeface="Arial"/>
              </a:rPr>
              <a:t> -</a:t>
            </a:r>
            <a:r>
              <a:rPr lang="en-GB" sz="900" b="1" i="0" dirty="0">
                <a:solidFill>
                  <a:srgbClr val="606060"/>
                </a:solidFill>
                <a:latin typeface="Arial"/>
              </a:rPr>
              <a:t> Reshan</a:t>
            </a:r>
            <a:endParaRPr sz="900" b="1" i="0" dirty="0">
              <a:solidFill>
                <a:srgbClr val="60606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5784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900" b="0" i="0" dirty="0">
                <a:solidFill>
                  <a:srgbClr val="000000"/>
                </a:solidFill>
                <a:latin typeface="Georgia"/>
              </a:rPr>
              <a:t>What I Did</a:t>
            </a:r>
            <a:endParaRPr sz="29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0624" y="1857122"/>
            <a:ext cx="34564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33671"/>
            <a:ext cx="3328416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latin typeface="Georgia"/>
              </a:rPr>
              <a:t>Re-Usable Course Template</a:t>
            </a:r>
          </a:p>
          <a:p>
            <a:pPr algn="l"/>
            <a:r>
              <a:rPr lang="en-GB" sz="2000" dirty="0">
                <a:solidFill>
                  <a:srgbClr val="000000"/>
                </a:solidFill>
                <a:latin typeface="Georgia"/>
              </a:rPr>
              <a:t>Implementation</a:t>
            </a:r>
            <a:endParaRPr sz="20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420623" y="3638422"/>
            <a:ext cx="11219687" cy="517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32004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 i="0">
                <a:solidFill>
                  <a:srgbClr val="606060"/>
                </a:solidFill>
                <a:latin typeface="Arial"/>
              </a:rPr>
              <a:t>10 / DEVELOPER 1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6291072"/>
            <a:ext cx="2057400" cy="3438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FC3DEFD-EBFD-94B6-E272-749F425D18ED}"/>
              </a:ext>
            </a:extLst>
          </p:cNvPr>
          <p:cNvSpPr/>
          <p:nvPr/>
        </p:nvSpPr>
        <p:spPr>
          <a:xfrm>
            <a:off x="4367784" y="1857122"/>
            <a:ext cx="34564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B6CD3-C8DB-12AC-2E0B-E04A05F2F2B3}"/>
              </a:ext>
            </a:extLst>
          </p:cNvPr>
          <p:cNvSpPr txBox="1"/>
          <p:nvPr/>
        </p:nvSpPr>
        <p:spPr>
          <a:xfrm>
            <a:off x="4367784" y="1940646"/>
            <a:ext cx="3328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latin typeface="Georgia"/>
              </a:rPr>
              <a:t>Implementation of workshop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latin typeface="Georgia"/>
              </a:rPr>
              <a:t>requirements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D0FF46-A017-FF02-7E41-F53A6EB9F0F0}"/>
              </a:ext>
            </a:extLst>
          </p:cNvPr>
          <p:cNvSpPr/>
          <p:nvPr/>
        </p:nvSpPr>
        <p:spPr>
          <a:xfrm>
            <a:off x="8183879" y="1857122"/>
            <a:ext cx="34564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B309A-1DBE-5F46-7609-E6F4D026B1C9}"/>
              </a:ext>
            </a:extLst>
          </p:cNvPr>
          <p:cNvSpPr txBox="1"/>
          <p:nvPr/>
        </p:nvSpPr>
        <p:spPr>
          <a:xfrm>
            <a:off x="8247887" y="2133005"/>
            <a:ext cx="3328416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latin typeface="Georgia"/>
              </a:rPr>
              <a:t>UX review defect fixing</a:t>
            </a:r>
            <a:endParaRPr sz="20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725589-DE81-FA97-C523-29C98C1FFD00}"/>
              </a:ext>
            </a:extLst>
          </p:cNvPr>
          <p:cNvSpPr txBox="1"/>
          <p:nvPr/>
        </p:nvSpPr>
        <p:spPr>
          <a:xfrm>
            <a:off x="420623" y="3826536"/>
            <a:ext cx="1065784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900" dirty="0">
                <a:solidFill>
                  <a:srgbClr val="000000"/>
                </a:solidFill>
                <a:latin typeface="Georgia"/>
              </a:rPr>
              <a:t>Personal Blocker</a:t>
            </a:r>
            <a:endParaRPr sz="29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126496-FBF9-0555-7F6F-FBC91F49989E}"/>
              </a:ext>
            </a:extLst>
          </p:cNvPr>
          <p:cNvSpPr txBox="1"/>
          <p:nvPr/>
        </p:nvSpPr>
        <p:spPr>
          <a:xfrm>
            <a:off x="333171" y="4409177"/>
            <a:ext cx="11019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latin typeface="Georgia"/>
              </a:rPr>
              <a:t>No code access not allowing development of branding book required changes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773"/>
    </mc:Choice>
    <mc:Fallback xmlns="">
      <p:transition spd="slow" advTm="6077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SHAIKH ZARIN TASNIM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FA0A0"/>
                </a:solidFill>
                <a:latin typeface="Calibri"/>
              </a:rPr>
              <a:t>Developer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914400" cy="0"/>
          </a:xfrm>
          <a:prstGeom prst="line">
            <a:avLst/>
          </a:prstGeom>
          <a:ln w="254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6459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9AA5B8"/>
                </a:solidFill>
                <a:latin typeface="Calibri"/>
              </a:rPr>
              <a:t>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OAPA Editor Academy</a:t>
            </a:r>
          </a:p>
          <a:p>
            <a:pPr>
              <a:lnSpc>
                <a:spcPts val="2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Moodle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E7893"/>
                </a:solidFill>
                <a:latin typeface="Calibri"/>
              </a:rPr>
              <a:t>Team 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1148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B2340"/>
                </a:solidFill>
                <a:latin typeface="Calibri"/>
              </a:rPr>
              <a:t>What I contributed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896112"/>
            <a:ext cx="1005840" cy="0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1143000"/>
            <a:ext cx="566928" cy="566928"/>
          </a:xfrm>
          <a:prstGeom prst="roundRect">
            <a:avLst/>
          </a:prstGeom>
          <a:solidFill>
            <a:srgbClr val="2F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143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115568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50" b="0">
                <a:solidFill>
                  <a:srgbClr val="2B2F3A"/>
                </a:solidFill>
                <a:latin typeface="Calibri"/>
              </a:rPr>
              <a:t>Walked through the course as a student multiple times, catching real issues like an undisclosed 100% pass-mark requirement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03120"/>
            <a:ext cx="566928" cy="566928"/>
          </a:xfrm>
          <a:prstGeom prst="roundRect">
            <a:avLst/>
          </a:prstGeom>
          <a:solidFill>
            <a:srgbClr val="2F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1031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75688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50" b="0">
                <a:solidFill>
                  <a:srgbClr val="2B2F3A"/>
                </a:solidFill>
                <a:latin typeface="Calibri"/>
              </a:rPr>
              <a:t>When H5P was blocked by a missing library, built the self-check quizzes on Moodle's native quiz tool instead, six question types with full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063240"/>
            <a:ext cx="566928" cy="566928"/>
          </a:xfrm>
          <a:prstGeom prst="roundRect">
            <a:avLst/>
          </a:prstGeom>
          <a:solidFill>
            <a:srgbClr val="2F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35808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50" b="0">
                <a:solidFill>
                  <a:srgbClr val="2B2F3A"/>
                </a:solidFill>
                <a:latin typeface="Calibri"/>
              </a:rPr>
              <a:t>Verified that grades, completion and workshop tracking were accurate, for both students and staff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023360"/>
            <a:ext cx="566928" cy="566928"/>
          </a:xfrm>
          <a:prstGeom prst="roundRect">
            <a:avLst/>
          </a:prstGeom>
          <a:solidFill>
            <a:srgbClr val="2F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4023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995928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00"/>
              </a:lnSpc>
            </a:pPr>
            <a:r>
              <a:rPr sz="1350" b="0">
                <a:solidFill>
                  <a:srgbClr val="2B2F3A"/>
                </a:solidFill>
                <a:latin typeface="Calibri"/>
              </a:rPr>
              <a:t>Closed the sprint by confirming H5P's missing library is finally fixed, giving the course two working self-check options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093208"/>
            <a:ext cx="8138160" cy="1417320"/>
          </a:xfrm>
          <a:prstGeom prst="roundRect">
            <a:avLst/>
          </a:prstGeom>
          <a:solidFill>
            <a:srgbClr val="FDEEE3"/>
          </a:solidFill>
          <a:ln w="1270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0" y="520293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2994A"/>
                </a:solidFill>
                <a:latin typeface="Calibri"/>
              </a:rPr>
              <a:t>Blocker &amp;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3212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00"/>
              </a:lnSpc>
            </a:pPr>
            <a:r>
              <a:rPr sz="1250" b="1">
                <a:solidFill>
                  <a:srgbClr val="1B2340"/>
                </a:solidFill>
                <a:latin typeface="Calibri"/>
              </a:rPr>
              <a:t>Blocker: </a:t>
            </a:r>
            <a:r>
              <a:rPr sz="1250" b="0">
                <a:solidFill>
                  <a:srgbClr val="2B2F3A"/>
                </a:solidFill>
                <a:latin typeface="Calibri"/>
              </a:rPr>
              <a:t>H5P, the interactive quiz tool, stayed broken for most of the sprint, with no timeline on when admin access would fix it.</a:t>
            </a:r>
          </a:p>
          <a:p>
            <a:pPr>
              <a:lnSpc>
                <a:spcPts val="1600"/>
              </a:lnSpc>
            </a:pPr>
            <a:r>
              <a:rPr sz="1250" b="1">
                <a:solidFill>
                  <a:srgbClr val="1B2340"/>
                </a:solidFill>
                <a:latin typeface="Calibri"/>
              </a:rPr>
              <a:t>Learning: </a:t>
            </a:r>
            <a:r>
              <a:rPr sz="1250" b="0">
                <a:solidFill>
                  <a:srgbClr val="2B2F3A"/>
                </a:solidFill>
                <a:latin typeface="Calibri"/>
              </a:rPr>
              <a:t>building a working alternative first, instead of waiting on a permission we didn't control, kept the sprint moving and ended up being the stronger option anyway.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FDFE-0575-D024-BC04-5DE2A7EA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F49989C-A446-4F1D-2869-7747534A41B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GB" sz="850" b="1" dirty="0">
                <a:solidFill>
                  <a:srgbClr val="000000"/>
                </a:solidFill>
                <a:latin typeface="Arial"/>
              </a:rPr>
              <a:t>Wrap Up</a:t>
            </a:r>
            <a:endParaRPr sz="85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EF224-1BE3-B3E3-3221-86D4F39F9F4D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428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62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endParaRPr sz="80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5A90DBF-C8FC-D5E4-83BA-310FA638A36B}"/>
              </a:ext>
            </a:extLst>
          </p:cNvPr>
          <p:cNvSpPr>
            <a:spLocks noGrp="1"/>
          </p:cNvSpPr>
          <p:nvPr/>
        </p:nvSpPr>
        <p:spPr>
          <a:xfrm flipV="1">
            <a:off x="920545" y="3048000"/>
            <a:ext cx="10350910" cy="6038"/>
          </a:xfrm>
          <a:prstGeom prst="line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6D3A8E-9509-C2B1-21A5-78E7E974D799}"/>
              </a:ext>
            </a:extLst>
          </p:cNvPr>
          <p:cNvSpPr>
            <a:spLocks noGrp="1"/>
          </p:cNvSpPr>
          <p:nvPr/>
        </p:nvSpPr>
        <p:spPr>
          <a:xfrm>
            <a:off x="1222580" y="8001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 b="0" i="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lang="en-GB" sz="6600" dirty="0">
                <a:solidFill>
                  <a:srgbClr val="000000"/>
                </a:solidFill>
                <a:latin typeface="Georgia"/>
              </a:rPr>
              <a:t>That Wraps up our Sprint Playback Presentation</a:t>
            </a:r>
            <a:endParaRPr sz="6600" b="0" i="0" dirty="0">
              <a:solidFill>
                <a:srgbClr val="000000"/>
              </a:solidFill>
              <a:latin typeface="Georgia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9CD1739-6AC4-0C56-77A0-6BBD6CEC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0" y="6298683"/>
            <a:ext cx="2190750" cy="36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24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05"/>
    </mc:Choice>
    <mc:Fallback>
      <p:transition spd="slow" advTm="39205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1579</Words>
  <Application>Microsoft Office PowerPoint</Application>
  <DocSecurity>0</DocSecurity>
  <PresentationFormat>Widescreen</PresentationFormat>
  <Paragraphs>256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Analysis – Acceptance Review and Handover </vt:lpstr>
      <vt:lpstr>UX Design – OAPA Academy</vt:lpstr>
      <vt:lpstr>               OAPA Landing Page</vt:lpstr>
      <vt:lpstr>             The Participants Tab</vt:lpstr>
      <vt:lpstr>                     The Participants Tab</vt:lpstr>
      <vt:lpstr>       UX Sprint 2 blockers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ryan raj</cp:lastModifiedBy>
  <cp:revision>13</cp:revision>
  <dcterms:created xsi:type="dcterms:W3CDTF">2026-09-09T04:58:15Z</dcterms:created>
  <dcterms:modified xsi:type="dcterms:W3CDTF">2026-10-04T07:18:05Z</dcterms:modified>
</cp:coreProperties>
</file>